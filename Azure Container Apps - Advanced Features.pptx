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555" r:id="rId3"/>
    <p:sldId id="5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553" r:id="rId12"/>
    <p:sldId id="265" r:id="rId13"/>
    <p:sldId id="55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1F890B-0E01-4D58-A406-5C9B14865E2F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D77ED-25D2-4AF6-8497-CC3E8BCE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86EE10-D2E4-4DE2-B26F-61DDB452D2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234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36A5A-AC89-5E06-1D3F-DBA0F6475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9C74B-E2D2-8F93-4481-6283E8F46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57629-A7DE-AE2E-5D21-6AF6B6E60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4AC2-0519-484B-A1AD-C4A29FDEEB6E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FB11B-75F2-FA7B-218E-5CD81359C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9E87-566C-8CF7-68DB-466E4FC9C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2FD7-7829-471B-9E74-6A0E3776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1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B5E96-ED43-93E5-3628-9866E4A9A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9DCCE-A6C0-83B4-EDB5-93D5791E3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2EF82-4E17-58F3-4689-7CBC8142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4AC2-0519-484B-A1AD-C4A29FDEEB6E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A3CBD-9073-9A7C-FA80-643815DB0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774DF-DF2B-08EA-B8AF-825B62059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2FD7-7829-471B-9E74-6A0E3776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0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62FDA-2C4B-2D2B-B204-0021BFC15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5F3BF-2E87-F637-751A-2D3D72BFA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C1E94-209D-A6A7-6ED8-EC57B8E93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4AC2-0519-484B-A1AD-C4A29FDEEB6E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52E0-4D55-0604-A667-248B23690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66741-90C7-4EBF-539E-887EF739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2FD7-7829-471B-9E74-6A0E3776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53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CD6B6-84DA-CCBE-9142-D13793C85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D62F0-DAC4-8A8D-2BBD-AA325B69E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1BB4D-94F9-F0F1-A3D1-E94D74D91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90016-2EDB-AB12-0D7A-842855F7E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4AC2-0519-484B-A1AD-C4A29FDEEB6E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0E2A6-BF86-DD45-6D9F-278909B27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912FA-C192-F087-806B-E9DA4E3B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2FD7-7829-471B-9E74-6A0E3776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93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60F52-9B76-0A3E-F305-3E07F499A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77ACD-EC22-A8E8-6E8E-87FCE78C9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6148E-A096-F444-E52B-89D86DFC9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C584DB-BBF0-07C5-0396-91671543CC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B4B6D6-4803-E428-7E92-D7B7EA857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2288E8-C5E5-D604-F0C7-330101B92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4AC2-0519-484B-A1AD-C4A29FDEEB6E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266D82-C335-15CF-5A99-9FB12F213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334BC-5FFA-0DBD-EDFF-CE984363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2FD7-7829-471B-9E74-6A0E3776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18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3D0D9-8015-E3AD-56B7-7715A3CB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5C664E-4BF8-2012-A039-ABCA9F206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4AC2-0519-484B-A1AD-C4A29FDEEB6E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E2EA66-6DD7-801C-1C63-02499ED90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D4B84-F6CA-0635-8C82-1CE3B0DF1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2FD7-7829-471B-9E74-6A0E3776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70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94FA44-514E-3BDB-A05D-1BA20CC53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4AC2-0519-484B-A1AD-C4A29FDEEB6E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DBA6D1-C23C-F042-EAA9-AE9A9DC6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F38F3-BAFC-2A7E-C882-74A94476E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2FD7-7829-471B-9E74-6A0E3776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13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8A8CE-B238-DC80-A075-6788DA2C3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D6173-9B49-93CF-2531-37EC4E98A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28FD6-F7CF-5B49-52DB-090C86100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29816-5BBE-80DF-1206-78D4FFBDC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4AC2-0519-484B-A1AD-C4A29FDEEB6E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94686-4883-7503-339A-18A29698E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0B46A-2410-AEE5-477A-C19C1B681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2FD7-7829-471B-9E74-6A0E3776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6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B069F-E675-F90B-813A-8396DCC5D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DB72DA-A121-3FB3-36AC-E765EB45B4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6944D-86AE-199F-A347-EB3797310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F67AD-4322-CE40-FC4F-BFE7369AC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4AC2-0519-484B-A1AD-C4A29FDEEB6E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D054B-303B-E31F-7154-420C336C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17BF0-DF60-7D77-009F-BBB56B41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2FD7-7829-471B-9E74-6A0E3776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63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7A02-8305-F20B-96AE-DA84BE041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D14DA5-A830-7417-65CA-0EB16404D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A700F-F28A-7ED2-E827-11B9D1B97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4AC2-0519-484B-A1AD-C4A29FDEEB6E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38EDE-8DA9-04F3-FA75-196E14712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AA81C-5756-BF8D-9D4D-B67C94CBE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2FD7-7829-471B-9E74-6A0E3776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44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9811EA-05F9-F7F7-18BF-7A63E420C4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207F15-C7F3-91C7-2CC5-559792F27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91D52-4455-ACEA-452B-CF9BE22B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4AC2-0519-484B-A1AD-C4A29FDEEB6E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CF41A-8E2E-BB5F-CC08-D471E471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0A5AF-1017-C26D-5CA1-6557CD456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2FD7-7829-471B-9E74-6A0E3776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6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B13D-E902-7A4F-3A68-E217687E9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CCBFE-3CA2-635E-D529-E08514282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EB328-3990-14B2-36F4-567A46D6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158C-2952-4E70-AA38-891B7C5473D9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8C709-39FF-9316-F5BB-EA94D7489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0A1B4-0FC4-CA5C-0693-F40F970F4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53F0B-830F-42FA-A998-E9AC6A0F3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56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82BFF-80D0-D809-1714-7247E114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52922-90C2-A627-10D3-01A3DFD79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512F1-AD44-C297-4744-1E659C59C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158C-2952-4E70-AA38-891B7C5473D9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252B7-736D-8D5F-7C65-B9E5E1BE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1DA-A614-9327-9AD5-168145CD2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53F0B-830F-42FA-A998-E9AC6A0F3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4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3C9B8-504B-2E98-EF83-239E7828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1D9ED-0BCD-6B6E-B89A-309517011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4E701-7C61-00F1-E92D-20EE65AE9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158C-2952-4E70-AA38-891B7C5473D9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89729-4A61-57CA-48AE-49915A22E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CF040-D949-EB51-AB61-4BEBCC68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53F0B-830F-42FA-A998-E9AC6A0F3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8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FD157-9EF4-48BE-02EA-8F6B2D75C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2E432-CB6D-94AF-5516-96852ADA92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5EFA6-719D-E70E-70B1-D2A92213F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7F6C8-F896-AB5F-6832-E53EA43BA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158C-2952-4E70-AA38-891B7C5473D9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5D2BC-F56C-4697-4566-458405E93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9FF55-65BE-EA58-662E-3725E4D73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53F0B-830F-42FA-A998-E9AC6A0F3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23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A44F1-BDA0-8A12-F163-9CD17D5AE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85722-A5A4-F012-6943-BF81A1B7B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145E0-701B-2546-C58C-E87D65B2B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B09A2B-D5E6-DC7D-3F45-A249DC2F9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C977BC-F1D4-40EA-FFDA-12C2BDEF1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CD702F-C4C2-001B-87AE-2AFDDD85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158C-2952-4E70-AA38-891B7C5473D9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CD0E93-4679-B5DF-5B04-6DDB374F5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AEBBE4-7FAB-9693-0547-77F43CD57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53F0B-830F-42FA-A998-E9AC6A0F3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47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E1D55-06C8-0BD4-14E1-AE0B029BA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E4D09-67BA-7493-097B-9EF69D88A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158C-2952-4E70-AA38-891B7C5473D9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0F6B16-3239-E461-D98B-8C6A41C87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DB229B-F79E-0B6A-5C6C-C097B393F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53F0B-830F-42FA-A998-E9AC6A0F3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825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E325B3-4B32-E3B0-80C2-2FBB784F1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158C-2952-4E70-AA38-891B7C5473D9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D4D314-BB46-7DA2-DC4A-78E3ED9CB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55608-E712-5DD6-B368-2AB3CD76B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53F0B-830F-42FA-A998-E9AC6A0F3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770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78C6-4009-E087-B0FE-0696C43FB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D1BBE-8451-E185-4597-207638153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6044F-6F3E-5CEA-3594-F32B9F45D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0CE4B-9B50-2716-7E3B-48185034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158C-2952-4E70-AA38-891B7C5473D9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717D0-B2AB-926D-777C-160B5AF1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95B13-3518-9CBE-1D3B-6B03090EF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53F0B-830F-42FA-A998-E9AC6A0F3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828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44BF-D732-2558-3DC3-63565671E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0BAFB0-2F74-0BD0-2C82-8CE32784F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8370F-1708-FB91-9375-488C584B0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86F69-83B5-0A9A-36B7-423E71D31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158C-2952-4E70-AA38-891B7C5473D9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E2ECD-7057-B931-C3B2-E4347BE1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AB308-25DF-E735-6405-573CEF549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53F0B-830F-42FA-A998-E9AC6A0F3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454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4ACBF-68FB-598A-B9EC-74ADC2DA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2707A-72A3-DAB5-3EE5-1E12180D6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6D53B-4CD7-62AA-55C1-8D706A24F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158C-2952-4E70-AA38-891B7C5473D9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AE9FF-5EDE-9C04-951A-F499AD6CE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18EFC-8E8C-D2D5-538F-4302A5AFA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53F0B-830F-42FA-A998-E9AC6A0F3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434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6C5CF1-D734-DC07-6D2C-3EA1EE2D7B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893ED-8E6C-AD00-EF27-FDD3FA282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FD87D-0A68-987F-FB3E-4C5F813BF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158C-2952-4E70-AA38-891B7C5473D9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95E39-24EE-22B5-B3CC-708DAEF35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D23EC-4507-FF95-ADB4-5FDCAF6D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53F0B-830F-42FA-A998-E9AC6A0F3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1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F255DF-F10A-7A49-B355-43E7889A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78032-6304-58F1-AF1B-EE862ABD3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A3A42-EE31-1655-3DA2-A75737B276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34AC2-0519-484B-A1AD-C4A29FDEEB6E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1FEC3-F163-07B3-3A6C-A937AC50C1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F576B-4923-4C66-15A3-DA445B331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52FD7-7829-471B-9E74-6A0E3776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24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E80997-6801-2359-E50F-30904F28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09C5A-9C6B-1924-9F62-B58A705B8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DF24-2B96-C5B9-A774-755C33945A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9158C-2952-4E70-AA38-891B7C5473D9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66F5D-F2C3-CA77-2B37-C7DBE5C248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9711A-6912-DF44-6240-F00E1CBF0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53F0B-830F-42FA-A998-E9AC6A0F3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477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ublic-domain-image.com/free-images/objects/spring-scale-used-to-determine-ones-weight-in-pounds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container-apps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BBBC39-BCAC-22D6-C9E3-0B60AEC35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65" b="9581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80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Sticky notes on a wall">
            <a:extLst>
              <a:ext uri="{FF2B5EF4-FFF2-40B4-BE49-F238E27FC236}">
                <a16:creationId xmlns:a16="http://schemas.microsoft.com/office/drawing/2014/main" id="{A606BF8F-31C4-BA16-D65E-92B616E549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54" r="1" b="1"/>
          <a:stretch/>
        </p:blipFill>
        <p:spPr>
          <a:xfrm>
            <a:off x="20" y="10"/>
            <a:ext cx="9947062" cy="685799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F9EC3F91-A75C-4F74-867E-E4C28C135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226" y="0"/>
            <a:ext cx="5043774" cy="6858000"/>
          </a:xfrm>
          <a:custGeom>
            <a:avLst/>
            <a:gdLst>
              <a:gd name="connsiteX0" fmla="*/ 1648981 w 5043774"/>
              <a:gd name="connsiteY0" fmla="*/ 0 h 6858000"/>
              <a:gd name="connsiteX1" fmla="*/ 2759699 w 5043774"/>
              <a:gd name="connsiteY1" fmla="*/ 0 h 6858000"/>
              <a:gd name="connsiteX2" fmla="*/ 3379301 w 5043774"/>
              <a:gd name="connsiteY2" fmla="*/ 0 h 6858000"/>
              <a:gd name="connsiteX3" fmla="*/ 3552342 w 5043774"/>
              <a:gd name="connsiteY3" fmla="*/ 0 h 6858000"/>
              <a:gd name="connsiteX4" fmla="*/ 4617166 w 5043774"/>
              <a:gd name="connsiteY4" fmla="*/ 0 h 6858000"/>
              <a:gd name="connsiteX5" fmla="*/ 4786130 w 5043774"/>
              <a:gd name="connsiteY5" fmla="*/ 0 h 6858000"/>
              <a:gd name="connsiteX6" fmla="*/ 4980168 w 5043774"/>
              <a:gd name="connsiteY6" fmla="*/ 0 h 6858000"/>
              <a:gd name="connsiteX7" fmla="*/ 5043774 w 5043774"/>
              <a:gd name="connsiteY7" fmla="*/ 0 h 6858000"/>
              <a:gd name="connsiteX8" fmla="*/ 5043774 w 5043774"/>
              <a:gd name="connsiteY8" fmla="*/ 6858000 h 6858000"/>
              <a:gd name="connsiteX9" fmla="*/ 4980168 w 5043774"/>
              <a:gd name="connsiteY9" fmla="*/ 6858000 h 6858000"/>
              <a:gd name="connsiteX10" fmla="*/ 4786130 w 5043774"/>
              <a:gd name="connsiteY10" fmla="*/ 6858000 h 6858000"/>
              <a:gd name="connsiteX11" fmla="*/ 4617166 w 5043774"/>
              <a:gd name="connsiteY11" fmla="*/ 6858000 h 6858000"/>
              <a:gd name="connsiteX12" fmla="*/ 3552342 w 5043774"/>
              <a:gd name="connsiteY12" fmla="*/ 6858000 h 6858000"/>
              <a:gd name="connsiteX13" fmla="*/ 3379301 w 5043774"/>
              <a:gd name="connsiteY13" fmla="*/ 6858000 h 6858000"/>
              <a:gd name="connsiteX14" fmla="*/ 2759699 w 5043774"/>
              <a:gd name="connsiteY14" fmla="*/ 6858000 h 6858000"/>
              <a:gd name="connsiteX15" fmla="*/ 2542782 w 5043774"/>
              <a:gd name="connsiteY15" fmla="*/ 6858000 h 6858000"/>
              <a:gd name="connsiteX16" fmla="*/ 2429239 w 5043774"/>
              <a:gd name="connsiteY16" fmla="*/ 6780599 h 6858000"/>
              <a:gd name="connsiteX17" fmla="*/ 1904328 w 5043774"/>
              <a:gd name="connsiteY17" fmla="*/ 6374814 h 6858000"/>
              <a:gd name="connsiteX18" fmla="*/ 0 w 5043774"/>
              <a:gd name="connsiteY18" fmla="*/ 3621656 h 6858000"/>
              <a:gd name="connsiteX19" fmla="*/ 1626503 w 5043774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043774" h="6858000">
                <a:moveTo>
                  <a:pt x="1648981" y="0"/>
                </a:moveTo>
                <a:lnTo>
                  <a:pt x="2759699" y="0"/>
                </a:lnTo>
                <a:lnTo>
                  <a:pt x="3379301" y="0"/>
                </a:lnTo>
                <a:lnTo>
                  <a:pt x="3552342" y="0"/>
                </a:lnTo>
                <a:lnTo>
                  <a:pt x="4617166" y="0"/>
                </a:lnTo>
                <a:lnTo>
                  <a:pt x="4786130" y="0"/>
                </a:lnTo>
                <a:lnTo>
                  <a:pt x="4980168" y="0"/>
                </a:lnTo>
                <a:lnTo>
                  <a:pt x="5043774" y="0"/>
                </a:lnTo>
                <a:lnTo>
                  <a:pt x="5043774" y="6858000"/>
                </a:lnTo>
                <a:lnTo>
                  <a:pt x="4980168" y="6858000"/>
                </a:lnTo>
                <a:lnTo>
                  <a:pt x="4786130" y="6858000"/>
                </a:lnTo>
                <a:lnTo>
                  <a:pt x="4617166" y="6858000"/>
                </a:lnTo>
                <a:lnTo>
                  <a:pt x="3552342" y="6858000"/>
                </a:lnTo>
                <a:lnTo>
                  <a:pt x="3379301" y="6858000"/>
                </a:lnTo>
                <a:lnTo>
                  <a:pt x="2759699" y="6858000"/>
                </a:lnTo>
                <a:lnTo>
                  <a:pt x="2542782" y="6858000"/>
                </a:lnTo>
                <a:lnTo>
                  <a:pt x="2429239" y="6780599"/>
                </a:lnTo>
                <a:cubicBezTo>
                  <a:pt x="2252641" y="6653108"/>
                  <a:pt x="2079285" y="6515397"/>
                  <a:pt x="1904328" y="6374814"/>
                </a:cubicBezTo>
                <a:cubicBezTo>
                  <a:pt x="943579" y="5602839"/>
                  <a:pt x="0" y="4969131"/>
                  <a:pt x="0" y="3621656"/>
                </a:cubicBezTo>
                <a:cubicBezTo>
                  <a:pt x="0" y="2093192"/>
                  <a:pt x="582912" y="754641"/>
                  <a:pt x="1626503" y="14997"/>
                </a:cubicBezTo>
                <a:close/>
              </a:path>
            </a:pathLst>
          </a:cu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9701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FFD246-06BC-F2E4-BD5A-6274420C9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3240" y="1045597"/>
            <a:ext cx="3633746" cy="1588422"/>
          </a:xfrm>
        </p:spPr>
        <p:txBody>
          <a:bodyPr anchor="b">
            <a:normAutofit/>
          </a:bodyPr>
          <a:lstStyle/>
          <a:p>
            <a:r>
              <a:rPr lang="en-US" sz="360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20D2C-C19A-B0C3-65D6-BD82CA868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5034" y="2722729"/>
            <a:ext cx="4396661" cy="270006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Scaling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Split Traffic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Custom DNS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Network Configuration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Integration with Other Azure Services</a:t>
            </a:r>
          </a:p>
        </p:txBody>
      </p:sp>
    </p:spTree>
    <p:extLst>
      <p:ext uri="{BB962C8B-B14F-4D97-AF65-F5344CB8AC3E}">
        <p14:creationId xmlns:p14="http://schemas.microsoft.com/office/powerpoint/2010/main" val="4071579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3471C-F018-8C79-40FA-CD56E2F98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586" y="67351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n-US" sz="4000"/>
              <a:t>Scaling Options</a:t>
            </a:r>
          </a:p>
        </p:txBody>
      </p:sp>
      <p:pic>
        <p:nvPicPr>
          <p:cNvPr id="5" name="Picture 4" descr="A close-up of a weight scale&#10;&#10;AI-generated content may be incorrect.">
            <a:extLst>
              <a:ext uri="{FF2B5EF4-FFF2-40B4-BE49-F238E27FC236}">
                <a16:creationId xmlns:a16="http://schemas.microsoft.com/office/drawing/2014/main" id="{CE63265C-8642-0855-ED93-566AFAD41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212" r="29677"/>
          <a:stretch/>
        </p:blipFill>
        <p:spPr>
          <a:xfrm flipH="1">
            <a:off x="6483270" y="0"/>
            <a:ext cx="5708730" cy="672174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758D5-2BDC-D74D-5AE5-E744BB535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586" y="2381755"/>
            <a:ext cx="4156512" cy="3769835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CPU/Memory based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HTTP requests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Queues (Azure Service Bus, Storage Queues)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Custom metrics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71749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DDCC-A35E-C45C-6E7E-D10C97A69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D2BE2-531D-0F9A-32BB-304B4BE4655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0101FD"/>
                </a:solidFill>
                <a:latin typeface="SFMono-Regular"/>
              </a:rPr>
              <a:t>az</a:t>
            </a:r>
            <a:r>
              <a:rPr lang="en-US" dirty="0">
                <a:solidFill>
                  <a:srgbClr val="0101FD"/>
                </a:solidFill>
                <a:latin typeface="SFMono-Regular"/>
              </a:rPr>
              <a:t> </a:t>
            </a:r>
            <a:r>
              <a:rPr lang="en-US" dirty="0" err="1">
                <a:solidFill>
                  <a:srgbClr val="0101FD"/>
                </a:solidFill>
                <a:latin typeface="SFMono-Regular"/>
              </a:rPr>
              <a:t>containerapp</a:t>
            </a:r>
            <a:r>
              <a:rPr lang="en-US" dirty="0">
                <a:solidFill>
                  <a:srgbClr val="0101FD"/>
                </a:solidFill>
                <a:latin typeface="SFMono-Regular"/>
              </a:rPr>
              <a:t> update </a:t>
            </a:r>
            <a:br>
              <a:rPr lang="en-US" dirty="0">
                <a:solidFill>
                  <a:srgbClr val="0101FD"/>
                </a:solidFill>
                <a:latin typeface="SFMono-Regular"/>
              </a:rPr>
            </a:br>
            <a:r>
              <a:rPr lang="en-US" dirty="0">
                <a:solidFill>
                  <a:srgbClr val="0101FD"/>
                </a:solidFill>
                <a:latin typeface="SFMono-Regular"/>
              </a:rPr>
              <a:t>     </a:t>
            </a:r>
            <a:r>
              <a:rPr lang="en-US" b="0" i="0" dirty="0">
                <a:solidFill>
                  <a:srgbClr val="006881"/>
                </a:solidFill>
                <a:effectLst/>
                <a:latin typeface="SFMono-Regular"/>
              </a:rPr>
              <a:t>--name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my-app</a:t>
            </a:r>
            <a:b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</a:br>
            <a:r>
              <a:rPr lang="en-US" dirty="0">
                <a:solidFill>
                  <a:srgbClr val="0101FD"/>
                </a:solidFill>
                <a:latin typeface="SFMono-Regular"/>
              </a:rPr>
              <a:t>     </a:t>
            </a:r>
            <a:r>
              <a:rPr lang="en-US" b="0" i="0" dirty="0">
                <a:solidFill>
                  <a:srgbClr val="006881"/>
                </a:solidFill>
                <a:effectLst/>
                <a:latin typeface="SFMono-Regular"/>
              </a:rPr>
              <a:t>--resource-group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my-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SFMono-Regular"/>
              </a:rPr>
              <a:t>containerapps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-group</a:t>
            </a:r>
            <a:b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</a:br>
            <a:r>
              <a:rPr lang="en-US" dirty="0">
                <a:solidFill>
                  <a:srgbClr val="0101FD"/>
                </a:solidFill>
                <a:latin typeface="SFMono-Regular"/>
              </a:rPr>
              <a:t>     </a:t>
            </a:r>
            <a:r>
              <a:rPr lang="en-US" b="0" i="0" dirty="0">
                <a:solidFill>
                  <a:srgbClr val="006881"/>
                </a:solidFill>
                <a:effectLst/>
                <a:latin typeface="SFMono-Regular"/>
              </a:rPr>
              <a:t>--scale-rule-name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http-rule</a:t>
            </a:r>
            <a:b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</a:br>
            <a:r>
              <a:rPr lang="en-US" dirty="0">
                <a:solidFill>
                  <a:srgbClr val="0101FD"/>
                </a:solidFill>
                <a:latin typeface="SFMono-Regular"/>
              </a:rPr>
              <a:t>     </a:t>
            </a:r>
            <a:r>
              <a:rPr lang="en-US" b="0" i="0" dirty="0">
                <a:solidFill>
                  <a:srgbClr val="006881"/>
                </a:solidFill>
                <a:effectLst/>
                <a:latin typeface="SFMono-Regular"/>
              </a:rPr>
              <a:t>--scale-rule-type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http</a:t>
            </a:r>
            <a:b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</a:br>
            <a:r>
              <a:rPr lang="en-US" dirty="0">
                <a:solidFill>
                  <a:srgbClr val="0101FD"/>
                </a:solidFill>
                <a:latin typeface="SFMono-Regular"/>
              </a:rPr>
              <a:t>     </a:t>
            </a:r>
            <a:r>
              <a:rPr lang="en-US" b="0" i="0" dirty="0">
                <a:solidFill>
                  <a:srgbClr val="006881"/>
                </a:solidFill>
                <a:effectLst/>
                <a:latin typeface="SFMono-Regular"/>
              </a:rPr>
              <a:t>--scale-rule-http-concurrency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476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130FF2-AC35-4685-A43A-9662F47FD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n-US" sz="4000"/>
              <a:t>Network Configuration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FBC2AD39-7E9D-C452-9F9D-8FD7FCF10E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7" r="40219" b="-2"/>
          <a:stretch/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4FCC0-5801-5C70-0CC5-5BDC4339A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Ingress options: internal vs external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VNET integration (Preview)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IP restrictions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Custom domains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97751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3DFC5-BD26-C99C-18AA-CE11FB4EF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EFEEF-C38E-F978-00AE-C72FFC0DC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secrets in Azure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 using environment variables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078E04-E75F-2AD2-81F8-78F936C74D14}"/>
              </a:ext>
            </a:extLst>
          </p:cNvPr>
          <p:cNvSpPr txBox="1">
            <a:spLocks/>
          </p:cNvSpPr>
          <p:nvPr/>
        </p:nvSpPr>
        <p:spPr>
          <a:xfrm>
            <a:off x="838200" y="2864145"/>
            <a:ext cx="10515600" cy="3055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rgbClr val="0101FD"/>
                </a:solidFill>
                <a:latin typeface="SFMono-Regular"/>
              </a:rPr>
              <a:t>az</a:t>
            </a:r>
            <a:r>
              <a:rPr lang="en-US" dirty="0">
                <a:solidFill>
                  <a:srgbClr val="0101FD"/>
                </a:solidFill>
                <a:latin typeface="SFMono-Regular"/>
              </a:rPr>
              <a:t> </a:t>
            </a:r>
            <a:r>
              <a:rPr lang="en-US" dirty="0" err="1">
                <a:solidFill>
                  <a:srgbClr val="0101FD"/>
                </a:solidFill>
                <a:latin typeface="SFMono-Regular"/>
              </a:rPr>
              <a:t>containerapp</a:t>
            </a:r>
            <a:r>
              <a:rPr lang="en-US" dirty="0">
                <a:solidFill>
                  <a:srgbClr val="0101FD"/>
                </a:solidFill>
                <a:latin typeface="SFMono-Regular"/>
              </a:rPr>
              <a:t> secret set </a:t>
            </a:r>
            <a:br>
              <a:rPr lang="en-US" dirty="0">
                <a:solidFill>
                  <a:srgbClr val="0101FD"/>
                </a:solidFill>
                <a:latin typeface="SFMono-Regular"/>
              </a:rPr>
            </a:br>
            <a:r>
              <a:rPr lang="en-US" dirty="0">
                <a:solidFill>
                  <a:srgbClr val="0101FD"/>
                </a:solidFill>
                <a:latin typeface="SFMono-Regular"/>
              </a:rPr>
              <a:t>     </a:t>
            </a:r>
            <a:r>
              <a:rPr lang="en-US" b="0" i="0" dirty="0">
                <a:solidFill>
                  <a:srgbClr val="006881"/>
                </a:solidFill>
                <a:effectLst/>
                <a:latin typeface="SFMono-Regular"/>
              </a:rPr>
              <a:t>--name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my-app</a:t>
            </a:r>
            <a:b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</a:br>
            <a:r>
              <a:rPr lang="en-US" dirty="0">
                <a:solidFill>
                  <a:srgbClr val="0101FD"/>
                </a:solidFill>
                <a:latin typeface="SFMono-Regular"/>
              </a:rPr>
              <a:t>     </a:t>
            </a:r>
            <a:r>
              <a:rPr lang="en-US" b="0" i="0" dirty="0">
                <a:solidFill>
                  <a:srgbClr val="006881"/>
                </a:solidFill>
                <a:effectLst/>
                <a:latin typeface="SFMono-Regular"/>
              </a:rPr>
              <a:t>--name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my-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SFMono-Regular"/>
              </a:rPr>
              <a:t>containerapps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-group</a:t>
            </a:r>
            <a:b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</a:br>
            <a:r>
              <a:rPr lang="en-US" dirty="0">
                <a:solidFill>
                  <a:srgbClr val="0101FD"/>
                </a:solidFill>
                <a:latin typeface="SFMono-Regular"/>
              </a:rPr>
              <a:t>     </a:t>
            </a:r>
            <a:r>
              <a:rPr lang="en-US" b="0" i="0" dirty="0">
                <a:solidFill>
                  <a:srgbClr val="006881"/>
                </a:solidFill>
                <a:effectLst/>
                <a:latin typeface="SFMono-Regular"/>
              </a:rPr>
              <a:t>--name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my-secret=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SFMono-Regular"/>
              </a:rPr>
              <a:t>supersecurevalue</a:t>
            </a:r>
            <a:endParaRPr lang="en-US" b="0" i="0" dirty="0">
              <a:solidFill>
                <a:srgbClr val="161616"/>
              </a:solidFill>
              <a:effectLst/>
              <a:latin typeface="SFMon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606598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9D4E9-0635-4797-855A-ABF1443D8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Secrets in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1F6DE-15DA-F772-0105-FDCBCD793063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>
                <a:solidFill>
                  <a:srgbClr val="0101FD"/>
                </a:solidFill>
                <a:latin typeface="SFMono-Regular"/>
              </a:rPr>
              <a:t>az</a:t>
            </a:r>
            <a:r>
              <a:rPr lang="en-US" dirty="0">
                <a:solidFill>
                  <a:srgbClr val="0101FD"/>
                </a:solidFill>
                <a:latin typeface="SFMono-Regular"/>
              </a:rPr>
              <a:t> </a:t>
            </a:r>
            <a:r>
              <a:rPr lang="en-US" dirty="0" err="1">
                <a:solidFill>
                  <a:srgbClr val="0101FD"/>
                </a:solidFill>
                <a:latin typeface="SFMono-Regular"/>
              </a:rPr>
              <a:t>containerapp</a:t>
            </a:r>
            <a:r>
              <a:rPr lang="en-US" dirty="0">
                <a:solidFill>
                  <a:srgbClr val="0101FD"/>
                </a:solidFill>
                <a:latin typeface="SFMono-Regular"/>
              </a:rPr>
              <a:t> update </a:t>
            </a:r>
            <a:br>
              <a:rPr lang="en-US" dirty="0">
                <a:solidFill>
                  <a:srgbClr val="0101FD"/>
                </a:solidFill>
                <a:latin typeface="SFMono-Regular"/>
              </a:rPr>
            </a:br>
            <a:r>
              <a:rPr lang="en-US" dirty="0">
                <a:solidFill>
                  <a:srgbClr val="0101FD"/>
                </a:solidFill>
                <a:latin typeface="SFMono-Regular"/>
              </a:rPr>
              <a:t>     </a:t>
            </a:r>
            <a:r>
              <a:rPr lang="en-US" b="0" i="0" dirty="0">
                <a:solidFill>
                  <a:srgbClr val="006881"/>
                </a:solidFill>
                <a:effectLst/>
                <a:latin typeface="SFMono-Regular"/>
              </a:rPr>
              <a:t>--name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my-app</a:t>
            </a:r>
            <a:b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</a:br>
            <a:r>
              <a:rPr lang="en-US" dirty="0">
                <a:solidFill>
                  <a:srgbClr val="0101FD"/>
                </a:solidFill>
                <a:latin typeface="SFMono-Regular"/>
              </a:rPr>
              <a:t>     </a:t>
            </a:r>
            <a:r>
              <a:rPr lang="en-US" b="0" i="0" dirty="0">
                <a:solidFill>
                  <a:srgbClr val="006881"/>
                </a:solidFill>
                <a:effectLst/>
                <a:latin typeface="SFMono-Regular"/>
              </a:rPr>
              <a:t>--resource-group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my-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SFMono-Regular"/>
              </a:rPr>
              <a:t>containerapps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-group</a:t>
            </a:r>
            <a:b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</a:br>
            <a:r>
              <a:rPr lang="en-US" dirty="0">
                <a:solidFill>
                  <a:srgbClr val="0101FD"/>
                </a:solidFill>
                <a:latin typeface="SFMono-Regular"/>
              </a:rPr>
              <a:t>     </a:t>
            </a:r>
            <a:r>
              <a:rPr lang="en-US" b="0" i="0" dirty="0">
                <a:solidFill>
                  <a:srgbClr val="006881"/>
                </a:solidFill>
                <a:effectLst/>
                <a:latin typeface="SFMono-Regular"/>
              </a:rPr>
              <a:t>--env-vars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SECRET_VAR=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SFMono-Regular"/>
              </a:rPr>
              <a:t>secretref:my-secret</a:t>
            </a:r>
            <a:endParaRPr lang="en-US" b="0" i="0" dirty="0">
              <a:solidFill>
                <a:srgbClr val="161616"/>
              </a:solidFill>
              <a:effectLst/>
              <a:latin typeface="SFMono-Regular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4311A23D-789C-43BC-3EEA-B13A3EDD0A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73" r="40484" b="-446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02149F-74EA-900D-88F7-0496E69E2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Integration with Azure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87766-BFD7-B889-2EB5-68A94D1C8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Azure Monitor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Azure Key Vault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Azure Container Registry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Azure Functions and Logic Apps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03628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BF29A-32F6-BA89-F4E5-256EA5AD5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Event-driven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67E95-F787-2859-F55D-C8B3DA4FF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Use Dapr for pub/sub, state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Integrate with Event Grid</a:t>
            </a:r>
          </a:p>
          <a:p>
            <a:endParaRPr lang="en-US" sz="2000"/>
          </a:p>
        </p:txBody>
      </p:sp>
      <p:pic>
        <p:nvPicPr>
          <p:cNvPr id="5" name="Picture 4" descr="People in a restaurant">
            <a:extLst>
              <a:ext uri="{FF2B5EF4-FFF2-40B4-BE49-F238E27FC236}">
                <a16:creationId xmlns:a16="http://schemas.microsoft.com/office/drawing/2014/main" id="{C7EDC8F4-E7CC-F746-C153-A5D8B4BD2A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60" r="32140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10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6FE18B-A426-4770-BE0C-FFDB0342AD24}"/>
              </a:ext>
            </a:extLst>
          </p:cNvPr>
          <p:cNvSpPr/>
          <p:nvPr/>
        </p:nvSpPr>
        <p:spPr>
          <a:xfrm>
            <a:off x="95693" y="95693"/>
            <a:ext cx="12004158" cy="6666614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49D22C-3FF1-4AAD-B96C-44C426393C3E}"/>
              </a:ext>
            </a:extLst>
          </p:cNvPr>
          <p:cNvSpPr/>
          <p:nvPr/>
        </p:nvSpPr>
        <p:spPr>
          <a:xfrm>
            <a:off x="136450" y="140165"/>
            <a:ext cx="11919100" cy="65776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BAB7ED-72AC-4A6D-A7E8-39F3B21DB749}"/>
              </a:ext>
            </a:extLst>
          </p:cNvPr>
          <p:cNvSpPr/>
          <p:nvPr/>
        </p:nvSpPr>
        <p:spPr>
          <a:xfrm>
            <a:off x="0" y="0"/>
            <a:ext cx="4078705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135797-42FE-466D-8DD1-8914EB64A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02" y="2789321"/>
            <a:ext cx="3314700" cy="1905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1B02E0-4A0A-496E-8C20-D445D700F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088" y="3107970"/>
            <a:ext cx="1828800" cy="990600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47943AD6-AF85-4133-85F6-C44284C54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7788" y="1709738"/>
            <a:ext cx="6879662" cy="2852737"/>
          </a:xfrm>
        </p:spPr>
        <p:txBody>
          <a:bodyPr/>
          <a:lstStyle/>
          <a:p>
            <a:r>
              <a:rPr lang="en-US" dirty="0"/>
              <a:t>Advanced Features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0F230D4-F9CA-4F3F-9BB7-7B68DA724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7788" y="4589463"/>
            <a:ext cx="6879662" cy="1500187"/>
          </a:xfrm>
        </p:spPr>
        <p:txBody>
          <a:bodyPr>
            <a:normAutofit/>
          </a:bodyPr>
          <a:lstStyle/>
          <a:p>
            <a:r>
              <a:rPr lang="en-US" sz="2000" dirty="0"/>
              <a:t>Custom DNS, Scaling, Split Traffic</a:t>
            </a:r>
          </a:p>
        </p:txBody>
      </p:sp>
    </p:spTree>
    <p:extLst>
      <p:ext uri="{BB962C8B-B14F-4D97-AF65-F5344CB8AC3E}">
        <p14:creationId xmlns:p14="http://schemas.microsoft.com/office/powerpoint/2010/main" val="3596699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80B59072-5BA2-B0DF-1332-811E12DCDF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598" r="8027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BA5CDD-ECBE-BE82-928D-91D5EFAD1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E9733-A054-9F84-5991-7CF403B7C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Explored advanced features such as auto-scaling based on metrics, secure networking configurations, and managing secrets in Azure.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Learned how to integrate Azure Container Apps with services like Azure Monitor, Key Vault, and Event Grid to build robust, event-driven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Next steps: Explore Microsoft Learn paths and Azure documentation for deep dives into production deployments and CI/CD strategies.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628129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C0A58-1FA9-EC4A-C4CC-24136A968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43690FC-3069-CBD3-C21A-FB4D140E5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Azure Container Apps documentation</a:t>
            </a:r>
          </a:p>
          <a:p>
            <a:pPr marL="457200" lvl="1" indent="0">
              <a:buNone/>
            </a:pPr>
            <a:r>
              <a:rPr lang="en-US" dirty="0">
                <a:hlinkClick r:id="rId2"/>
              </a:rPr>
              <a:t>https://learn.microsoft.com/en-us/azure/container-apps/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919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</TotalTime>
  <Words>268</Words>
  <Application>Microsoft Office PowerPoint</Application>
  <PresentationFormat>Widescreen</PresentationFormat>
  <Paragraphs>44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Meiryo</vt:lpstr>
      <vt:lpstr>Aptos</vt:lpstr>
      <vt:lpstr>Aptos Display</vt:lpstr>
      <vt:lpstr>Arial</vt:lpstr>
      <vt:lpstr>Calibri</vt:lpstr>
      <vt:lpstr>Calibri Light</vt:lpstr>
      <vt:lpstr>SFMono-Regular</vt:lpstr>
      <vt:lpstr>Office Theme</vt:lpstr>
      <vt:lpstr>1_Office Theme</vt:lpstr>
      <vt:lpstr>PowerPoint Presentation</vt:lpstr>
      <vt:lpstr>Agenda</vt:lpstr>
      <vt:lpstr>Scaling Options</vt:lpstr>
      <vt:lpstr>Scaling Example</vt:lpstr>
      <vt:lpstr>Network Configuration</vt:lpstr>
      <vt:lpstr>Secrets</vt:lpstr>
      <vt:lpstr>Using Secrets in App</vt:lpstr>
      <vt:lpstr>Integration with Azure Services</vt:lpstr>
      <vt:lpstr>Event-driven Architectures</vt:lpstr>
      <vt:lpstr>Advanced Features</vt:lpstr>
      <vt:lpstr>Summary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Colón</dc:creator>
  <cp:lastModifiedBy>Daniel Colón</cp:lastModifiedBy>
  <cp:revision>14</cp:revision>
  <dcterms:created xsi:type="dcterms:W3CDTF">2025-05-10T00:46:01Z</dcterms:created>
  <dcterms:modified xsi:type="dcterms:W3CDTF">2025-05-10T16:02:36Z</dcterms:modified>
</cp:coreProperties>
</file>